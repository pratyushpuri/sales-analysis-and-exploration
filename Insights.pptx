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8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3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1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55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4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38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9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38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5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46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D3CA5-3B6F-94CB-3FDE-434971C16D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6243C-F67E-6E1F-CD56-6CE154403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4400" dirty="0"/>
              <a:t>Sales Exploratory Data Analysis &amp; Business Insights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B244C-C7C2-FDB9-C668-E49FF2EA9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r"/>
            <a:r>
              <a:rPr lang="en-IN" sz="2000" b="1" dirty="0"/>
              <a:t>Presented by:</a:t>
            </a:r>
            <a:r>
              <a:rPr lang="en-IN" sz="2000" dirty="0"/>
              <a:t> Pratyush Puri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97877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DE8C-57DE-E681-1343-2792D54C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2769"/>
            <a:ext cx="11155680" cy="771734"/>
          </a:xfrm>
        </p:spPr>
        <p:txBody>
          <a:bodyPr/>
          <a:lstStyle/>
          <a:p>
            <a:pPr algn="ctr"/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AD81F-7BA8-7CE2-4AA0-87C803D5C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8320" y="1868128"/>
            <a:ext cx="4955360" cy="4733446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What We Will Cover Today</a:t>
            </a:r>
          </a:p>
          <a:p>
            <a:pPr marL="0" indent="0" algn="ctr">
              <a:buNone/>
            </a:pPr>
            <a:endParaRPr lang="en-US" sz="2800" dirty="0"/>
          </a:p>
          <a:p>
            <a:pPr algn="ctr"/>
            <a:r>
              <a:rPr lang="en-IN" dirty="0"/>
              <a:t>Project Objective &amp; Data Overview</a:t>
            </a:r>
          </a:p>
          <a:p>
            <a:pPr algn="ctr"/>
            <a:r>
              <a:rPr lang="en-IN" dirty="0"/>
              <a:t>High-Level Sales Trends</a:t>
            </a:r>
          </a:p>
          <a:p>
            <a:pPr algn="ctr"/>
            <a:r>
              <a:rPr lang="en-IN" dirty="0"/>
              <a:t>Customer Demographics &amp; Retention</a:t>
            </a:r>
          </a:p>
          <a:p>
            <a:pPr algn="ctr"/>
            <a:r>
              <a:rPr lang="en-IN" dirty="0"/>
              <a:t>Product &amp; Seller Performance</a:t>
            </a:r>
          </a:p>
          <a:p>
            <a:pPr algn="ctr"/>
            <a:r>
              <a:rPr lang="en-IN" dirty="0"/>
              <a:t>Purchasing Behaviour &amp; Payment Trends</a:t>
            </a:r>
          </a:p>
          <a:p>
            <a:pPr algn="ctr"/>
            <a:r>
              <a:rPr lang="en-IN" dirty="0"/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2020720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13B8-FAF8-2160-9879-DE199F267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1063"/>
          </a:xfrm>
        </p:spPr>
        <p:txBody>
          <a:bodyPr/>
          <a:lstStyle/>
          <a:p>
            <a:pPr algn="ctr"/>
            <a:r>
              <a:rPr lang="en-IN" dirty="0"/>
              <a:t>Data Overview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22CE7-D35E-50C9-8B34-6371C2EB6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54943"/>
            <a:ext cx="11155680" cy="3578942"/>
          </a:xfrm>
        </p:spPr>
        <p:txBody>
          <a:bodyPr/>
          <a:lstStyle/>
          <a:p>
            <a:pPr marL="0" indent="0" algn="ctr">
              <a:buNone/>
            </a:pPr>
            <a:r>
              <a:rPr lang="en-IN" sz="2800" dirty="0"/>
              <a:t>Understanding the E-commerce Ecosystem</a:t>
            </a:r>
          </a:p>
          <a:p>
            <a:pPr marL="0" indent="0" algn="ctr">
              <a:buNone/>
            </a:pPr>
            <a:endParaRPr lang="en-IN" sz="2800" dirty="0"/>
          </a:p>
          <a:p>
            <a:r>
              <a:rPr lang="en-US" b="1" dirty="0"/>
              <a:t>Objective:</a:t>
            </a:r>
            <a:r>
              <a:rPr lang="en-US" dirty="0"/>
              <a:t> To analyze historical sales data to extract actionable business metrics and understand market dynamics</a:t>
            </a:r>
          </a:p>
          <a:p>
            <a:r>
              <a:rPr lang="en-US" b="1" dirty="0"/>
              <a:t>Data Scope:</a:t>
            </a:r>
            <a:r>
              <a:rPr lang="en-US" dirty="0"/>
              <a:t> Merged multiple datasets including Customers, Orders, Payments, Products, and Sellers.</a:t>
            </a:r>
          </a:p>
          <a:p>
            <a:r>
              <a:rPr lang="en-US" b="1" dirty="0"/>
              <a:t>Scale:</a:t>
            </a:r>
            <a:r>
              <a:rPr lang="en-US" dirty="0"/>
              <a:t> Consolidated and analyzed over 112,000 order instances.</a:t>
            </a:r>
          </a:p>
          <a:p>
            <a:r>
              <a:rPr lang="en-US" b="1" dirty="0"/>
              <a:t>Key Focus:</a:t>
            </a:r>
            <a:r>
              <a:rPr lang="en-US" dirty="0"/>
              <a:t> YoY Growth, Customer Retention, and Revenue Drivers.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98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9348-43D2-253E-3D71-4A75B211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pPr algn="ctr"/>
            <a:r>
              <a:rPr lang="en-IN" dirty="0"/>
              <a:t>High-Level Sales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1D79A-9B7E-1043-8292-4EACB0916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858297"/>
            <a:ext cx="11155680" cy="662005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/>
              <a:t>Growth and Revenue Trajectory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E05D1-05DB-56EC-7C61-45BAF8464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686" y="2775940"/>
            <a:ext cx="6192837" cy="3359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49D8B3-5D8F-05E7-8582-DB3E3D603FF2}"/>
              </a:ext>
            </a:extLst>
          </p:cNvPr>
          <p:cNvSpPr txBox="1"/>
          <p:nvPr/>
        </p:nvSpPr>
        <p:spPr>
          <a:xfrm>
            <a:off x="442452" y="2977082"/>
            <a:ext cx="51521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Peak order volumes are observed during specific months, indicating clear seasonal trends in 2018.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Cumulative sales show a strong upward trajectory year over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Year-over-Year (YoY) growth rate serves as a key indicator of our market expansion.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00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F719-98B6-332D-C6D2-4F65C194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8547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Customer Insights &amp;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76122-95DF-6F18-1348-2CF1EAF03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36955"/>
            <a:ext cx="11155680" cy="53094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800" dirty="0"/>
              <a:t>Who Are Our Customers?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D1048-FDA6-52CF-7FAB-6E7D67337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337" y="2566219"/>
            <a:ext cx="5499110" cy="41687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22CCF1-0AE0-F177-61E3-41FB55BAE046}"/>
              </a:ext>
            </a:extLst>
          </p:cNvPr>
          <p:cNvSpPr txBox="1"/>
          <p:nvPr/>
        </p:nvSpPr>
        <p:spPr>
          <a:xfrm>
            <a:off x="229337" y="309716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customer base spread across thousands of unique cities, with massive concentration in top states.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6-Month Retention Rate:</a:t>
            </a:r>
            <a:r>
              <a:rPr lang="en-US" dirty="0"/>
              <a:t> Monitored the percentage of users returning for repeat purchases within half a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Identified top VIP customers annually based on total money spent to understand high-value behavior.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16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762A-EF62-42B6-98F5-11CE5B4FD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48715"/>
          </a:xfrm>
        </p:spPr>
        <p:txBody>
          <a:bodyPr/>
          <a:lstStyle/>
          <a:p>
            <a:pPr algn="ctr"/>
            <a:r>
              <a:rPr lang="en-IN" dirty="0"/>
              <a:t>Product &amp; Seller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43CA1-213E-29AA-64FB-AB5F7165A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739091"/>
          </a:xfrm>
        </p:spPr>
        <p:txBody>
          <a:bodyPr/>
          <a:lstStyle/>
          <a:p>
            <a:pPr marL="0" indent="0" algn="ctr">
              <a:buNone/>
            </a:pPr>
            <a:r>
              <a:rPr lang="en-IN" sz="2800" dirty="0"/>
              <a:t>What Drives Our Revenue?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C09C2-33DD-3E0E-0B20-9BD99F4DC37F}"/>
              </a:ext>
            </a:extLst>
          </p:cNvPr>
          <p:cNvSpPr txBox="1"/>
          <p:nvPr/>
        </p:nvSpPr>
        <p:spPr>
          <a:xfrm>
            <a:off x="285135" y="3303639"/>
            <a:ext cx="52012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Identified the Top 5 product categories generating the absolute highest total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distinct correlation exists between product price and purchase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generation is heavily concentrated among the Top 10 Elite Sellers.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AAF9E-065F-8B8B-E405-8CAF6A3B9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239" y="2602745"/>
            <a:ext cx="6228396" cy="403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7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E2526-EFAC-A820-BE88-716CFE60B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9721"/>
          </a:xfrm>
        </p:spPr>
        <p:txBody>
          <a:bodyPr/>
          <a:lstStyle/>
          <a:p>
            <a:pPr algn="ctr"/>
            <a:r>
              <a:rPr lang="en-IN" dirty="0"/>
              <a:t>Purchasing &amp; Payment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326CE-172F-F96F-0CE3-4C741F781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699762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How Customers Buy and Pay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49CBB-9824-0876-762E-C1207F771674}"/>
              </a:ext>
            </a:extLst>
          </p:cNvPr>
          <p:cNvSpPr txBox="1"/>
          <p:nvPr/>
        </p:nvSpPr>
        <p:spPr>
          <a:xfrm>
            <a:off x="206477" y="3222041"/>
            <a:ext cx="588952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the average number of products per order across different customer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Tracked the Moving Average of order values to observe shifting customer purchasing power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significant percentage of orders are paid in installments, highlighting a strong consumer preference for flexible payment options.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66B4-97CE-A884-E9F4-913D7A98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08030"/>
            <a:ext cx="5889523" cy="39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F6FC-AF0F-351C-B0BD-51133094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07708"/>
          </a:xfrm>
        </p:spPr>
        <p:txBody>
          <a:bodyPr/>
          <a:lstStyle/>
          <a:p>
            <a:pPr algn="ctr"/>
            <a:r>
              <a:rPr lang="en-IN" dirty="0"/>
              <a:t>Conclusion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D6807-8F22-5BB4-BBC5-5323A7581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Key Takeaways &amp; The Road Ahead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Geographical distribution dictates where we should focus our targeted marketing efforts.</a:t>
            </a:r>
          </a:p>
          <a:p>
            <a:r>
              <a:rPr lang="en-US" dirty="0"/>
              <a:t>Installment payments are a strong driver for conversions and should be promoted.</a:t>
            </a:r>
            <a:r>
              <a:rPr lang="en-US" b="1" dirty="0"/>
              <a:t> </a:t>
            </a:r>
          </a:p>
          <a:p>
            <a:r>
              <a:rPr lang="en-US" b="1" dirty="0"/>
              <a:t>Next Steps:</a:t>
            </a:r>
            <a:r>
              <a:rPr lang="en-US" dirty="0"/>
              <a:t> Use these engineered features and insights to build predictive Machine Learning models for forecasting sales, anticipating churn, and optimizing inventory.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80652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381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Bierstadt</vt:lpstr>
      <vt:lpstr>GestaltVTI</vt:lpstr>
      <vt:lpstr>Sales Exploratory Data Analysis &amp; Business Insights</vt:lpstr>
      <vt:lpstr>Agenda</vt:lpstr>
      <vt:lpstr>Data Overview &amp; Objective</vt:lpstr>
      <vt:lpstr>High-Level Sales Trends</vt:lpstr>
      <vt:lpstr>Customer Insights &amp; Demographics</vt:lpstr>
      <vt:lpstr>Product &amp; Seller Performance</vt:lpstr>
      <vt:lpstr>Purchasing &amp; Payment Behavior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logor84330@httpsu.com</dc:creator>
  <cp:lastModifiedBy>logor84330@httpsu.com</cp:lastModifiedBy>
  <cp:revision>12</cp:revision>
  <dcterms:created xsi:type="dcterms:W3CDTF">2026-03-08T00:17:49Z</dcterms:created>
  <dcterms:modified xsi:type="dcterms:W3CDTF">2026-03-08T00:39:21Z</dcterms:modified>
</cp:coreProperties>
</file>